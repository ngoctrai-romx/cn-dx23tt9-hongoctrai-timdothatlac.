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8"/>
  </p:normalViewPr>
  <p:slideViewPr>
    <p:cSldViewPr snapToGrid="0" snapToObjects="1">
      <p:cViewPr varScale="1">
        <p:scale>
          <a:sx n="107" d="100"/>
          <a:sy n="107" d="100"/>
        </p:scale>
        <p:origin x="64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3C66-97E1-4FCC-92C9-3B655165A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C31A9-BD39-4F01-9E98-9B93E2ACB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B8C27-5E43-4FAC-9D1F-F35154A2E8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E5E19-ADFC-43A9-8BB1-2BFDFC794A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3D62D-59D4-4C27-A18E-C8EF86847A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4436-C955-42FA-821F-1D745523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F65E8-E36F-41BC-A53A-ACE954D7A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72B95-39F0-4055-BA4E-FC1E3324F2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A0F8-8B84-4811-9EF2-E9B8B9A091F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E4899-1FA7-4D09-969E-604D975D3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E67EA-0933-44D5-ABE6-A20A72E9A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E30FE-BD98-43E5-A5B9-705C9C7EF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DFCC7-15AF-4004-B48A-51B7C333AF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7B9F9-2A0E-4CA5-91DD-F526327476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8C1A8-9FCE-4136-9010-D22D0B92D9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87046-2952-4043-ADB4-7C7B30153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F2DC-E885-4D6A-91C1-B01345675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160C5-A1E5-4D7D-9ACF-A793EB53409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6CF1B-EDFA-42F2-89ED-663E88CD3C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6CA48-B621-4616-A50B-204E411202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0A6D0-3A75-4EBE-BDB2-44C837272C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1C9E-CEA8-4785-8556-EBABDBC1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9D766-9D95-4037-9589-7B9746AEE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14F2B-C55A-4B04-A9BD-B8962D46CC3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D42E8-B64B-42D5-B8E8-87D4AE530DE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F8C41-3E4F-474E-8E9D-FB70A4872BE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E028AC-4909-44FC-9369-D557EF29C1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4729E6-EE64-4360-BA78-E811F4AA97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E256AE-B6AE-48A5-847A-C0E0C6EB77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2A74-D999-47C2-8BEE-BA4C27CBC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F5342E-86BE-424A-9963-03986BA21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2946C4-B3B5-4931-9B6B-A73C46D23F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96752-266D-4404-8797-3C43913BB8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EEF11D-7210-483D-BDB7-84E155CEAE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1650EB-1E9A-47B5-B284-3CE08E581F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672DA-324D-498F-BB49-7053388F17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DE29C-17B1-404E-BF8E-B67EE8A6B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E023F-4C11-4FF2-8ED4-474424249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5296E-673A-441D-9206-BC5DB243A6E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08E18-55E5-4E91-9DA0-3B986F95D0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AEFA3-A1D6-4E82-AC16-0E98B38AAB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E07DF-CD82-4993-8E7F-0167ED08D7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F1CE-1190-4496-913A-565548EF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10E2E2-D5C2-4E2F-ACC0-DF678A140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23548-7676-44C1-BA5A-C63D6A58884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ED9BC-CC59-4255-A367-362C6D6310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15186-B5D6-48B1-A26A-4D18BAEBD9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D115B-A9AC-453B-BACF-26E9079515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B180F-3D96-4FB5-84FF-C9A55C50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13280-EA85-48B5-ABE6-CA1F9A334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91357-563B-46EC-A594-47719E648A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55700-C551-4271-9521-E0BF32921D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2006E-0698-41C1-9D47-0A77045CBC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CF870D-55FB-45F4-8537-453C65D4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D2B55-C0F6-4642-8158-98EAD04BF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7ABDA-896E-44AA-9242-947D407369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21B5C-C13A-42F5-B706-9C5686BFA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19635-0C6E-47E3-9417-DD1119DDA7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426F6E-9AB0-4D4F-B660-A0BEAB54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88347-D109-4F6C-BDEE-08A216821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3D7CB-E8DD-471E-A68E-880CAE0C032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7/19/26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5C544-9601-46B7-8BAB-C699555DC63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096E6-0C43-4232-88F3-06C7B4761BC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6BFF87-E600-457E-90FF-94C85D0B3C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F59DC1-0A1F-4376-BB75-4BB854AAFD13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5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TRƯỜNG ĐẠI HỌC TRÀ VINH  •  KHOA KỸ THUẬT VÀ CÔNG NGHỆ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E6789-5691-4740-BCE1-315F696BF2BD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ĐỒ ÁN MÔN HỌC CHUYÊN ĐỀ ASP.NET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041E93-A51E-4ADF-ACC5-CB0675D573BA}"/>
              </a:ext>
            </a:extLst>
          </p:cNvPr>
          <p:cNvSpPr>
            <a:spLocks noGrp="1"/>
          </p:cNvSpPr>
          <p:nvPr/>
        </p:nvSpPr>
        <p:spPr>
          <a:xfrm>
            <a:off x="5592927" y="1600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480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2815CD-621C-4125-A29D-AD6348EBD262}"/>
              </a:ext>
            </a:extLst>
          </p:cNvPr>
          <p:cNvSpPr>
            <a:spLocks noGrp="1"/>
          </p:cNvSpPr>
          <p:nvPr/>
        </p:nvSpPr>
        <p:spPr>
          <a:xfrm>
            <a:off x="640080" y="2880360"/>
            <a:ext cx="1091153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buNone/>
            </a:pPr>
            <a:r>
              <a: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XÂY DỰNG WEBSITE BÁN SẢN PHẨM</a:t>
            </a:r>
          </a:p>
          <a:p>
            <a:pPr algn="ctr">
              <a:lnSpc>
                <a:spcPct val="110000"/>
              </a:lnSpc>
              <a:buNone/>
            </a:pPr>
            <a:r>
              <a: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CÔNG NGHỆ CỦA APPLE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4E134-7F37-4103-9ED8-7D678D6BFE02}"/>
              </a:ext>
            </a:extLst>
          </p:cNvPr>
          <p:cNvSpPr>
            <a:spLocks noGrp="1"/>
          </p:cNvSpPr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ASP.NET Web Forms  •  C#  •  ADO.NET  •  SQL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61EAB3-8B96-4895-A7A8-48D2E48D6D8B}"/>
              </a:ext>
            </a:extLst>
          </p:cNvPr>
          <p:cNvSpPr>
            <a:spLocks noGrp="1"/>
          </p:cNvSpPr>
          <p:nvPr/>
        </p:nvSpPr>
        <p:spPr>
          <a:xfrm>
            <a:off x="640080" y="5486400"/>
            <a:ext cx="10911535" cy="628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1600" b="0" i="0" dirty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Sinh </a:t>
            </a:r>
            <a:r>
              <a:rPr sz="1600" b="0" i="0" dirty="0" err="1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viên</a:t>
            </a:r>
            <a:r>
              <a:rPr sz="1600" b="0" i="0" dirty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thực</a:t>
            </a:r>
            <a:r>
              <a:rPr sz="1600" b="0" i="0" dirty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hiện</a:t>
            </a:r>
            <a:r>
              <a:rPr sz="1600" b="0" i="0" dirty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: Hồ Ngọc Trai   —   </a:t>
            </a:r>
            <a:r>
              <a:rPr sz="1600" b="0" i="0" dirty="0" err="1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Lớp</a:t>
            </a:r>
            <a:r>
              <a:rPr sz="1600" b="0" i="0" dirty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: DX23TT9</a:t>
            </a:r>
          </a:p>
          <a:p>
            <a:pPr algn="ctr">
              <a:lnSpc>
                <a:spcPct val="125000"/>
              </a:lnSpc>
              <a:buNone/>
            </a:pPr>
            <a:r>
              <a:rPr sz="1600" b="0" i="0" dirty="0" err="1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Giảng</a:t>
            </a:r>
            <a:r>
              <a:rPr sz="1600" b="0" i="0" dirty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viên</a:t>
            </a:r>
            <a:r>
              <a:rPr sz="1600" b="0" i="0" dirty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hướng</a:t>
            </a:r>
            <a:r>
              <a:rPr sz="1600" b="0" i="0" dirty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dẫn</a:t>
            </a:r>
            <a:r>
              <a:rPr sz="1600" b="0" i="0" dirty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TS. Nguyễn </a:t>
            </a:r>
            <a:r>
              <a:rPr lang="en-US" dirty="0" err="1">
                <a:solidFill>
                  <a:schemeClr val="bg1"/>
                </a:solidFill>
              </a:rPr>
              <a:t>Nhứt</a:t>
            </a:r>
            <a:r>
              <a:rPr lang="en-US" dirty="0">
                <a:solidFill>
                  <a:schemeClr val="bg1"/>
                </a:solidFill>
              </a:rPr>
              <a:t> Lam</a:t>
            </a:r>
            <a:endParaRPr sz="1600" b="0" i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263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A96E4C-3EA6-4F0D-A357-FAA3252DFD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5E721-548E-452D-8F62-65959C757A0A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Nội dung trình bày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6DA85A-16B2-4F4E-8A9B-5F2CDDFFC56C}"/>
              </a:ext>
            </a:extLst>
          </p:cNvPr>
          <p:cNvSpPr>
            <a:spLocks noGrp="1"/>
          </p:cNvSpPr>
          <p:nvPr/>
        </p:nvSpPr>
        <p:spPr>
          <a:xfrm>
            <a:off x="822960" y="14173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16EBFF2-12F7-47C0-90D8-A34681C13F5A}"/>
              </a:ext>
            </a:extLst>
          </p:cNvPr>
          <p:cNvSpPr>
            <a:spLocks noGrp="1"/>
          </p:cNvSpPr>
          <p:nvPr/>
        </p:nvSpPr>
        <p:spPr>
          <a:xfrm>
            <a:off x="1051560" y="1581912"/>
            <a:ext cx="548640" cy="54864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77907-1088-4E6E-8E1E-675C8AD05AEE}"/>
              </a:ext>
            </a:extLst>
          </p:cNvPr>
          <p:cNvSpPr>
            <a:spLocks noGrp="1"/>
          </p:cNvSpPr>
          <p:nvPr/>
        </p:nvSpPr>
        <p:spPr>
          <a:xfrm>
            <a:off x="1874519" y="153619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Giới thiệu đề tài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6E66E-D2DA-4664-93BB-25F478A9A538}"/>
              </a:ext>
            </a:extLst>
          </p:cNvPr>
          <p:cNvSpPr>
            <a:spLocks noGrp="1"/>
          </p:cNvSpPr>
          <p:nvPr/>
        </p:nvSpPr>
        <p:spPr>
          <a:xfrm>
            <a:off x="6217920" y="167335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Lý do chọn, mục tiêu, phạm vi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B6CEE50-3EFF-49A4-A240-FF05AF4282CC}"/>
              </a:ext>
            </a:extLst>
          </p:cNvPr>
          <p:cNvSpPr>
            <a:spLocks noGrp="1"/>
          </p:cNvSpPr>
          <p:nvPr/>
        </p:nvSpPr>
        <p:spPr>
          <a:xfrm>
            <a:off x="822960" y="2441448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4BBF65-E18C-4FA1-8E0E-B3EE1249774E}"/>
              </a:ext>
            </a:extLst>
          </p:cNvPr>
          <p:cNvSpPr>
            <a:spLocks noGrp="1"/>
          </p:cNvSpPr>
          <p:nvPr/>
        </p:nvSpPr>
        <p:spPr>
          <a:xfrm>
            <a:off x="1051560" y="2606040"/>
            <a:ext cx="548640" cy="54864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81EF4-C6DB-4A49-A11F-574D8F909BF6}"/>
              </a:ext>
            </a:extLst>
          </p:cNvPr>
          <p:cNvSpPr>
            <a:spLocks noGrp="1"/>
          </p:cNvSpPr>
          <p:nvPr/>
        </p:nvSpPr>
        <p:spPr>
          <a:xfrm>
            <a:off x="1874519" y="25603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Công nghệ sử dụng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3FC6B-AF16-43B4-8B96-66FE5FD5F093}"/>
              </a:ext>
            </a:extLst>
          </p:cNvPr>
          <p:cNvSpPr>
            <a:spLocks noGrp="1"/>
          </p:cNvSpPr>
          <p:nvPr/>
        </p:nvSpPr>
        <p:spPr>
          <a:xfrm>
            <a:off x="6217920" y="26974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ASP.NET Web Forms, C#, ADO.NET, SQL Server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272C50-23CE-4D9B-AC5B-E4B72E8262F6}"/>
              </a:ext>
            </a:extLst>
          </p:cNvPr>
          <p:cNvSpPr>
            <a:spLocks noGrp="1"/>
          </p:cNvSpPr>
          <p:nvPr/>
        </p:nvSpPr>
        <p:spPr>
          <a:xfrm>
            <a:off x="822960" y="3465576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D9DD0B-834D-4F4F-8BAF-13B3AB7F8E9F}"/>
              </a:ext>
            </a:extLst>
          </p:cNvPr>
          <p:cNvSpPr>
            <a:spLocks noGrp="1"/>
          </p:cNvSpPr>
          <p:nvPr/>
        </p:nvSpPr>
        <p:spPr>
          <a:xfrm>
            <a:off x="1051560" y="3630168"/>
            <a:ext cx="548640" cy="54864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DC0D7-7333-467E-BCFD-E4ADE659EBC9}"/>
              </a:ext>
            </a:extLst>
          </p:cNvPr>
          <p:cNvSpPr>
            <a:spLocks noGrp="1"/>
          </p:cNvSpPr>
          <p:nvPr/>
        </p:nvSpPr>
        <p:spPr>
          <a:xfrm>
            <a:off x="1874519" y="358444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Phân tích &amp; thiết kế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04FFD2-9AE4-412E-8EB5-DE67D00CCB5C}"/>
              </a:ext>
            </a:extLst>
          </p:cNvPr>
          <p:cNvSpPr>
            <a:spLocks noGrp="1"/>
          </p:cNvSpPr>
          <p:nvPr/>
        </p:nvSpPr>
        <p:spPr>
          <a:xfrm>
            <a:off x="6217920" y="37216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Chức năng, cơ sở dữ liệu, xử lý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9BFC403-140D-4C8C-9571-73B342806462}"/>
              </a:ext>
            </a:extLst>
          </p:cNvPr>
          <p:cNvSpPr>
            <a:spLocks noGrp="1"/>
          </p:cNvSpPr>
          <p:nvPr/>
        </p:nvSpPr>
        <p:spPr>
          <a:xfrm>
            <a:off x="822960" y="4489704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5685315-AD9A-44D3-B044-A848196C47BF}"/>
              </a:ext>
            </a:extLst>
          </p:cNvPr>
          <p:cNvSpPr>
            <a:spLocks noGrp="1"/>
          </p:cNvSpPr>
          <p:nvPr/>
        </p:nvSpPr>
        <p:spPr>
          <a:xfrm>
            <a:off x="1051560" y="4654296"/>
            <a:ext cx="548640" cy="54864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B811D1-A5E6-435C-966F-0842D543C123}"/>
              </a:ext>
            </a:extLst>
          </p:cNvPr>
          <p:cNvSpPr>
            <a:spLocks noGrp="1"/>
          </p:cNvSpPr>
          <p:nvPr/>
        </p:nvSpPr>
        <p:spPr>
          <a:xfrm>
            <a:off x="1874519" y="4608576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Demo sản phẩm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556DA0-88D3-4070-B69C-1C957E3DBBB8}"/>
              </a:ext>
            </a:extLst>
          </p:cNvPr>
          <p:cNvSpPr>
            <a:spLocks noGrp="1"/>
          </p:cNvSpPr>
          <p:nvPr/>
        </p:nvSpPr>
        <p:spPr>
          <a:xfrm>
            <a:off x="6217920" y="474573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Phân hệ khách hàng và quản trị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4FC7E50-E293-4741-A42D-CA391A162C19}"/>
              </a:ext>
            </a:extLst>
          </p:cNvPr>
          <p:cNvSpPr>
            <a:spLocks noGrp="1"/>
          </p:cNvSpPr>
          <p:nvPr/>
        </p:nvSpPr>
        <p:spPr>
          <a:xfrm>
            <a:off x="822960" y="5513832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9492C08-0854-4FE9-9895-855E550755E5}"/>
              </a:ext>
            </a:extLst>
          </p:cNvPr>
          <p:cNvSpPr>
            <a:spLocks noGrp="1"/>
          </p:cNvSpPr>
          <p:nvPr/>
        </p:nvSpPr>
        <p:spPr>
          <a:xfrm>
            <a:off x="1051560" y="5678424"/>
            <a:ext cx="548640" cy="54864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F1307A-B991-45A2-8AF7-A05BEF3F23C6}"/>
              </a:ext>
            </a:extLst>
          </p:cNvPr>
          <p:cNvSpPr>
            <a:spLocks noGrp="1"/>
          </p:cNvSpPr>
          <p:nvPr/>
        </p:nvSpPr>
        <p:spPr>
          <a:xfrm>
            <a:off x="1874519" y="563270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Kết luận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CDAC8C-CE16-4EC6-A7C7-B5942A02C38A}"/>
              </a:ext>
            </a:extLst>
          </p:cNvPr>
          <p:cNvSpPr>
            <a:spLocks noGrp="1"/>
          </p:cNvSpPr>
          <p:nvPr/>
        </p:nvSpPr>
        <p:spPr>
          <a:xfrm>
            <a:off x="6217920" y="576986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Kết quả đạt được, hướng phát triển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C650C8-F703-48CE-9981-E0CC5771AE53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59490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0A5ADE-01FD-4A03-826B-3F7AA30880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C9C98-0078-4891-B2CD-028C621E4D44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Lý do chọn đề tài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5FD981-E405-4D0E-ACC4-E7E6CDC08DC4}"/>
              </a:ext>
            </a:extLst>
          </p:cNvPr>
          <p:cNvSpPr>
            <a:spLocks noGrp="1"/>
          </p:cNvSpPr>
          <p:nvPr/>
        </p:nvSpPr>
        <p:spPr>
          <a:xfrm>
            <a:off x="822960" y="1554480"/>
            <a:ext cx="5120640" cy="196596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A2E136-565B-475D-8742-A1EC4F1DC900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685800" cy="68580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406BF-8EC3-4C03-AF00-ECD00D7B55C6}"/>
              </a:ext>
            </a:extLst>
          </p:cNvPr>
          <p:cNvSpPr>
            <a:spLocks noGrp="1"/>
          </p:cNvSpPr>
          <p:nvPr/>
        </p:nvSpPr>
        <p:spPr>
          <a:xfrm>
            <a:off x="1143000" y="2606039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TMĐT phát triển mạnh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B82DA-7A0A-4191-AC80-3894B7E28A03}"/>
              </a:ext>
            </a:extLst>
          </p:cNvPr>
          <p:cNvSpPr>
            <a:spLocks noGrp="1"/>
          </p:cNvSpPr>
          <p:nvPr/>
        </p:nvSpPr>
        <p:spPr>
          <a:xfrm>
            <a:off x="1143000" y="30175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Mua sắm trực tuyến trở thành thói quen của người tiêu dùng Việt Nam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C453355-A5AB-4253-B28E-283109F22F2B}"/>
              </a:ext>
            </a:extLst>
          </p:cNvPr>
          <p:cNvSpPr>
            <a:spLocks noGrp="1"/>
          </p:cNvSpPr>
          <p:nvPr/>
        </p:nvSpPr>
        <p:spPr>
          <a:xfrm>
            <a:off x="6309360" y="1554480"/>
            <a:ext cx="5120640" cy="196596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54A9D1-269C-470D-B2CE-CBEB36747DA7}"/>
              </a:ext>
            </a:extLst>
          </p:cNvPr>
          <p:cNvSpPr>
            <a:spLocks noGrp="1"/>
          </p:cNvSpPr>
          <p:nvPr/>
        </p:nvSpPr>
        <p:spPr>
          <a:xfrm>
            <a:off x="6629400" y="1828800"/>
            <a:ext cx="685800" cy="6858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04EAC-D11C-4532-945B-B99A42CA0303}"/>
              </a:ext>
            </a:extLst>
          </p:cNvPr>
          <p:cNvSpPr>
            <a:spLocks noGrp="1"/>
          </p:cNvSpPr>
          <p:nvPr/>
        </p:nvSpPr>
        <p:spPr>
          <a:xfrm>
            <a:off x="6629400" y="2606039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Sản phẩm Apple được ưa chuộng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72E87B-132B-4E6C-AD91-E0B8483189A7}"/>
              </a:ext>
            </a:extLst>
          </p:cNvPr>
          <p:cNvSpPr>
            <a:spLocks noGrp="1"/>
          </p:cNvSpPr>
          <p:nvPr/>
        </p:nvSpPr>
        <p:spPr>
          <a:xfrm>
            <a:off x="6629400" y="30175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iPhone, iPad, Mac, Watch, AirPods có nhu cầu mua online rất lớn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005C91F-8DDA-4FF9-A9B0-E52CF99AD10D}"/>
              </a:ext>
            </a:extLst>
          </p:cNvPr>
          <p:cNvSpPr>
            <a:spLocks noGrp="1"/>
          </p:cNvSpPr>
          <p:nvPr/>
        </p:nvSpPr>
        <p:spPr>
          <a:xfrm>
            <a:off x="822960" y="3840480"/>
            <a:ext cx="5120640" cy="196596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4A9621-8062-4DAE-AE4E-B298B213DF12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685800" cy="68580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A1D34B-2DB4-4053-B96B-6411B98C7EAF}"/>
              </a:ext>
            </a:extLst>
          </p:cNvPr>
          <p:cNvSpPr>
            <a:spLocks noGrp="1"/>
          </p:cNvSpPr>
          <p:nvPr/>
        </p:nvSpPr>
        <p:spPr>
          <a:xfrm>
            <a:off x="1143000" y="489204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Cửa hàng nhỏ chưa có website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7C99A4-46C9-41B6-93E9-632E60EEF167}"/>
              </a:ext>
            </a:extLst>
          </p:cNvPr>
          <p:cNvSpPr>
            <a:spLocks noGrp="1"/>
          </p:cNvSpPr>
          <p:nvPr/>
        </p:nvSpPr>
        <p:spPr>
          <a:xfrm>
            <a:off x="1143000" y="53035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Quản lý sản phẩm, đơn hàng thủ công — dễ sai sót, tốn công sức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B973419-B86C-4B28-AFF4-838CC2FD12B7}"/>
              </a:ext>
            </a:extLst>
          </p:cNvPr>
          <p:cNvSpPr>
            <a:spLocks noGrp="1"/>
          </p:cNvSpPr>
          <p:nvPr/>
        </p:nvSpPr>
        <p:spPr>
          <a:xfrm>
            <a:off x="6309360" y="3840480"/>
            <a:ext cx="5120640" cy="196596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0D3369-BB07-4E6D-8FC6-BA9169A275D5}"/>
              </a:ext>
            </a:extLst>
          </p:cNvPr>
          <p:cNvSpPr>
            <a:spLocks noGrp="1"/>
          </p:cNvSpPr>
          <p:nvPr/>
        </p:nvSpPr>
        <p:spPr>
          <a:xfrm>
            <a:off x="6629400" y="4114800"/>
            <a:ext cx="685800" cy="6858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C1DBD0-DDD5-4F5E-9D15-53B155B32707}"/>
              </a:ext>
            </a:extLst>
          </p:cNvPr>
          <p:cNvSpPr>
            <a:spLocks noGrp="1"/>
          </p:cNvSpPr>
          <p:nvPr/>
        </p:nvSpPr>
        <p:spPr>
          <a:xfrm>
            <a:off x="6629400" y="489204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Vận dụng kiến thức môn học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166837-E217-49ED-B710-4150EFF94049}"/>
              </a:ext>
            </a:extLst>
          </p:cNvPr>
          <p:cNvSpPr>
            <a:spLocks noGrp="1"/>
          </p:cNvSpPr>
          <p:nvPr/>
        </p:nvSpPr>
        <p:spPr>
          <a:xfrm>
            <a:off x="6629400" y="53035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Áp dụng trọn vẹn ASP.NET, C#, ADO.NET, SQL Server đã học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161BD6-6C32-4AD7-9566-F0650A8BEC07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639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D84E27-6BF4-43FB-A14D-1AF93F0901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787C1-BC68-4626-9473-4234BA5CFB8C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Mục tiêu và phạm vi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174A68-43B9-4587-90F3-0ACC38E4656F}"/>
              </a:ext>
            </a:extLst>
          </p:cNvPr>
          <p:cNvSpPr>
            <a:spLocks noGrp="1"/>
          </p:cNvSpPr>
          <p:nvPr/>
        </p:nvSpPr>
        <p:spPr>
          <a:xfrm>
            <a:off x="822960" y="1463040"/>
            <a:ext cx="5166360" cy="4754880"/>
          </a:xfrm>
          <a:prstGeom prst="roundRect">
            <a:avLst>
              <a:gd name="adj" fmla="val 8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A1ED2-4396-4B8B-A8A9-CACE54504172}"/>
              </a:ext>
            </a:extLst>
          </p:cNvPr>
          <p:cNvSpPr>
            <a:spLocks noGrp="1"/>
          </p:cNvSpPr>
          <p:nvPr/>
        </p:nvSpPr>
        <p:spPr>
          <a:xfrm>
            <a:off x="1188720" y="178308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MỤC TIÊU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A0515A-847B-4AD8-9C65-6020ED34B5E4}"/>
              </a:ext>
            </a:extLst>
          </p:cNvPr>
          <p:cNvSpPr>
            <a:spLocks noGrp="1"/>
          </p:cNvSpPr>
          <p:nvPr/>
        </p:nvSpPr>
        <p:spPr>
          <a:xfrm>
            <a:off x="1188720" y="2542032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ADDDB-99CB-4962-85C0-F11E252BAA81}"/>
              </a:ext>
            </a:extLst>
          </p:cNvPr>
          <p:cNvSpPr>
            <a:spLocks noGrp="1"/>
          </p:cNvSpPr>
          <p:nvPr/>
        </p:nvSpPr>
        <p:spPr>
          <a:xfrm>
            <a:off x="1600200" y="246888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4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Website bán hàng hoàn chỉnh, chạy ổn định trên IIS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BFE37F-164E-47D2-B881-5959EEF8C09C}"/>
              </a:ext>
            </a:extLst>
          </p:cNvPr>
          <p:cNvSpPr>
            <a:spLocks noGrp="1"/>
          </p:cNvSpPr>
          <p:nvPr/>
        </p:nvSpPr>
        <p:spPr>
          <a:xfrm>
            <a:off x="1188720" y="3410712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A0FCE5-D018-4E50-978A-F36B2AD11BCB}"/>
              </a:ext>
            </a:extLst>
          </p:cNvPr>
          <p:cNvSpPr>
            <a:spLocks noGrp="1"/>
          </p:cNvSpPr>
          <p:nvPr/>
        </p:nvSpPr>
        <p:spPr>
          <a:xfrm>
            <a:off x="1600200" y="333756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4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Phân hệ khách hàng: xem, tìm kiếm, giỏ hàng, đặt hàng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408263-D37E-45E8-9B38-8FE11DB04E34}"/>
              </a:ext>
            </a:extLst>
          </p:cNvPr>
          <p:cNvSpPr>
            <a:spLocks noGrp="1"/>
          </p:cNvSpPr>
          <p:nvPr/>
        </p:nvSpPr>
        <p:spPr>
          <a:xfrm>
            <a:off x="1188720" y="4279392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C06A4-5FD7-4325-921E-4024B127932C}"/>
              </a:ext>
            </a:extLst>
          </p:cNvPr>
          <p:cNvSpPr>
            <a:spLocks noGrp="1"/>
          </p:cNvSpPr>
          <p:nvPr/>
        </p:nvSpPr>
        <p:spPr>
          <a:xfrm>
            <a:off x="1600200" y="420624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4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Phân hệ quản trị: quản lý SP, danh mục, đơn hàng, thống kê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E5BB9C-B4E8-468A-AA53-4A1BB35E7043}"/>
              </a:ext>
            </a:extLst>
          </p:cNvPr>
          <p:cNvSpPr>
            <a:spLocks noGrp="1"/>
          </p:cNvSpPr>
          <p:nvPr/>
        </p:nvSpPr>
        <p:spPr>
          <a:xfrm>
            <a:off x="1188720" y="5148072"/>
            <a:ext cx="201168" cy="20116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5F38CD-271C-4433-84CC-731AB5633F01}"/>
              </a:ext>
            </a:extLst>
          </p:cNvPr>
          <p:cNvSpPr>
            <a:spLocks noGrp="1"/>
          </p:cNvSpPr>
          <p:nvPr/>
        </p:nvSpPr>
        <p:spPr>
          <a:xfrm>
            <a:off x="1600200" y="507492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4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CSDL chặt chẽ, truy vấn an toàn (tham số hóa)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B002C89-329F-4F3D-82FA-43ACFECAA65E}"/>
              </a:ext>
            </a:extLst>
          </p:cNvPr>
          <p:cNvSpPr>
            <a:spLocks noGrp="1"/>
          </p:cNvSpPr>
          <p:nvPr/>
        </p:nvSpPr>
        <p:spPr>
          <a:xfrm>
            <a:off x="6263640" y="1463040"/>
            <a:ext cx="5166360" cy="475488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437DB1-DB7D-4871-B3DD-20D78476BA8D}"/>
              </a:ext>
            </a:extLst>
          </p:cNvPr>
          <p:cNvSpPr>
            <a:spLocks noGrp="1"/>
          </p:cNvSpPr>
          <p:nvPr/>
        </p:nvSpPr>
        <p:spPr>
          <a:xfrm>
            <a:off x="6629400" y="178308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PHẠM VI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C05395-B89B-4FAF-BE51-BA0D48BA4EFC}"/>
              </a:ext>
            </a:extLst>
          </p:cNvPr>
          <p:cNvSpPr>
            <a:spLocks noGrp="1"/>
          </p:cNvSpPr>
          <p:nvPr/>
        </p:nvSpPr>
        <p:spPr>
          <a:xfrm>
            <a:off x="6629400" y="2468880"/>
            <a:ext cx="44805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4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Trong phạm vi:</a:t>
            </a:r>
          </a:p>
          <a:p>
            <a:pPr algn="l">
              <a:lnSpc>
                <a:spcPct val="120000"/>
              </a:lnSpc>
              <a:buNone/>
            </a:pPr>
            <a:r>
              <a:rPr sz="14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• Bán sản phẩm Apple: 6 danh mục, 22 sản phẩm mẫu</a:t>
            </a:r>
          </a:p>
          <a:p>
            <a:pPr algn="l">
              <a:lnSpc>
                <a:spcPct val="120000"/>
              </a:lnSpc>
              <a:buNone/>
            </a:pPr>
            <a:r>
              <a:rPr sz="14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• Đặt hàng trực tuyến, quản trị bán hàng, báo cáo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880491-3490-4EEF-B022-F85F2A6CB610}"/>
              </a:ext>
            </a:extLst>
          </p:cNvPr>
          <p:cNvSpPr>
            <a:spLocks noGrp="1"/>
          </p:cNvSpPr>
          <p:nvPr/>
        </p:nvSpPr>
        <p:spPr>
          <a:xfrm>
            <a:off x="6629400" y="4206240"/>
            <a:ext cx="4480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4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Ngoài phạm vi (hướng phát triển):</a:t>
            </a:r>
          </a:p>
          <a:p>
            <a:pPr algn="l">
              <a:lnSpc>
                <a:spcPct val="120000"/>
              </a:lnSpc>
              <a:buNone/>
            </a:pPr>
            <a:r>
              <a:rPr sz="14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• Thanh toán trực tuyến qua cổng thanh toán</a:t>
            </a:r>
          </a:p>
          <a:p>
            <a:pPr algn="l">
              <a:lnSpc>
                <a:spcPct val="120000"/>
              </a:lnSpc>
              <a:buNone/>
            </a:pPr>
            <a:r>
              <a:rPr sz="14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• Gợi ý sản phẩm thông minh, ứng dụng di động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DC643A-70B2-48DF-A32A-6B7212EE8BAE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1534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7FC372-B0A4-4804-83E3-EC7C6CD534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E931A-E3BF-4615-AC2E-0C42EB0AD7E2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Công nghệ sử dụng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D07329-021D-4A5F-B9BD-2CD45D5B04EC}"/>
              </a:ext>
            </a:extLst>
          </p:cNvPr>
          <p:cNvSpPr>
            <a:spLocks noGrp="1"/>
          </p:cNvSpPr>
          <p:nvPr/>
        </p:nvSpPr>
        <p:spPr>
          <a:xfrm>
            <a:off x="822960" y="155448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C9F601-745E-4029-B172-55C83A9CA2EB}"/>
              </a:ext>
            </a:extLst>
          </p:cNvPr>
          <p:cNvSpPr>
            <a:spLocks noGrp="1"/>
          </p:cNvSpPr>
          <p:nvPr/>
        </p:nvSpPr>
        <p:spPr>
          <a:xfrm>
            <a:off x="1097280" y="1810512"/>
            <a:ext cx="640080" cy="640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ASP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E6211D-9498-4E31-AA9A-44628BF990A1}"/>
              </a:ext>
            </a:extLst>
          </p:cNvPr>
          <p:cNvSpPr>
            <a:spLocks noGrp="1"/>
          </p:cNvSpPr>
          <p:nvPr/>
        </p:nvSpPr>
        <p:spPr>
          <a:xfrm>
            <a:off x="1097280" y="256032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ASP.NET Web Forms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C6E29E-5252-4F8F-BA33-D42D509D65AB}"/>
              </a:ext>
            </a:extLst>
          </p:cNvPr>
          <p:cNvSpPr>
            <a:spLocks noGrp="1"/>
          </p:cNvSpPr>
          <p:nvPr/>
        </p:nvSpPr>
        <p:spPr>
          <a:xfrm>
            <a:off x="1097280" y="29718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15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Nền tảng web, mô hình code-behind, server controls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9BF2B95-D112-4389-B2F7-BBB3F3DBECA5}"/>
              </a:ext>
            </a:extLst>
          </p:cNvPr>
          <p:cNvSpPr>
            <a:spLocks noGrp="1"/>
          </p:cNvSpPr>
          <p:nvPr/>
        </p:nvSpPr>
        <p:spPr>
          <a:xfrm>
            <a:off x="4480560" y="155448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FB11E8-FA70-4A65-A0F1-EB39160A324E}"/>
              </a:ext>
            </a:extLst>
          </p:cNvPr>
          <p:cNvSpPr>
            <a:spLocks noGrp="1"/>
          </p:cNvSpPr>
          <p:nvPr/>
        </p:nvSpPr>
        <p:spPr>
          <a:xfrm>
            <a:off x="4754880" y="1810512"/>
            <a:ext cx="640080" cy="64008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C#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30FFAA-2417-4F4C-9C29-6EB8AE007968}"/>
              </a:ext>
            </a:extLst>
          </p:cNvPr>
          <p:cNvSpPr>
            <a:spLocks noGrp="1"/>
          </p:cNvSpPr>
          <p:nvPr/>
        </p:nvSpPr>
        <p:spPr>
          <a:xfrm>
            <a:off x="4754880" y="256032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Ngôn ngữ C#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9FE4B0-9D82-43D3-BD10-A7C074173B81}"/>
              </a:ext>
            </a:extLst>
          </p:cNvPr>
          <p:cNvSpPr>
            <a:spLocks noGrp="1"/>
          </p:cNvSpPr>
          <p:nvPr/>
        </p:nvSpPr>
        <p:spPr>
          <a:xfrm>
            <a:off x="4754880" y="29718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15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Xử lý nghiệp vụ hướng đối tượng, lớp dùng chung App_Code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6DAF88-363D-4C5C-9E78-788BA9E374B1}"/>
              </a:ext>
            </a:extLst>
          </p:cNvPr>
          <p:cNvSpPr>
            <a:spLocks noGrp="1"/>
          </p:cNvSpPr>
          <p:nvPr/>
        </p:nvSpPr>
        <p:spPr>
          <a:xfrm>
            <a:off x="8138160" y="155448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0D59536-2E78-48C4-A56B-D04E5FA1E22C}"/>
              </a:ext>
            </a:extLst>
          </p:cNvPr>
          <p:cNvSpPr>
            <a:spLocks noGrp="1"/>
          </p:cNvSpPr>
          <p:nvPr/>
        </p:nvSpPr>
        <p:spPr>
          <a:xfrm>
            <a:off x="8412480" y="1810512"/>
            <a:ext cx="640080" cy="640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ADO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14B8-EF11-4137-8B9F-E5E0660A575B}"/>
              </a:ext>
            </a:extLst>
          </p:cNvPr>
          <p:cNvSpPr>
            <a:spLocks noGrp="1"/>
          </p:cNvSpPr>
          <p:nvPr/>
        </p:nvSpPr>
        <p:spPr>
          <a:xfrm>
            <a:off x="8412480" y="256032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ADO.NET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606031-21DF-457B-A0E5-1D3FABA86208}"/>
              </a:ext>
            </a:extLst>
          </p:cNvPr>
          <p:cNvSpPr>
            <a:spLocks noGrp="1"/>
          </p:cNvSpPr>
          <p:nvPr/>
        </p:nvSpPr>
        <p:spPr>
          <a:xfrm>
            <a:off x="8412480" y="29718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15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SqlConnection • SqlCommand • DataAdapter • DataSet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2B50AF3-8A14-4C54-BA24-C1F2A41C1118}"/>
              </a:ext>
            </a:extLst>
          </p:cNvPr>
          <p:cNvSpPr>
            <a:spLocks noGrp="1"/>
          </p:cNvSpPr>
          <p:nvPr/>
        </p:nvSpPr>
        <p:spPr>
          <a:xfrm>
            <a:off x="822960" y="3886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622C6F9-19AB-45FB-8BD3-4D7F28F6D496}"/>
              </a:ext>
            </a:extLst>
          </p:cNvPr>
          <p:cNvSpPr>
            <a:spLocks noGrp="1"/>
          </p:cNvSpPr>
          <p:nvPr/>
        </p:nvSpPr>
        <p:spPr>
          <a:xfrm>
            <a:off x="1097280" y="4142232"/>
            <a:ext cx="640080" cy="64008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C4884B-B74F-45D0-8B98-C93DCA5C33C3}"/>
              </a:ext>
            </a:extLst>
          </p:cNvPr>
          <p:cNvSpPr>
            <a:spLocks noGrp="1"/>
          </p:cNvSpPr>
          <p:nvPr/>
        </p:nvSpPr>
        <p:spPr>
          <a:xfrm>
            <a:off x="1097280" y="48920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SQL 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7E1570-BEA6-4C08-BA0C-1E9D4AA1FE49}"/>
              </a:ext>
            </a:extLst>
          </p:cNvPr>
          <p:cNvSpPr>
            <a:spLocks noGrp="1"/>
          </p:cNvSpPr>
          <p:nvPr/>
        </p:nvSpPr>
        <p:spPr>
          <a:xfrm>
            <a:off x="1097280" y="53035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15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CSDL AppleStore: 6 bảng, ràng buộc toàn vẹn đầy đủ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FFA884A-CCBF-4F59-8003-64DEA0829499}"/>
              </a:ext>
            </a:extLst>
          </p:cNvPr>
          <p:cNvSpPr>
            <a:spLocks noGrp="1"/>
          </p:cNvSpPr>
          <p:nvPr/>
        </p:nvSpPr>
        <p:spPr>
          <a:xfrm>
            <a:off x="4480560" y="3886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42A242-84AC-4C54-9E72-378232906D58}"/>
              </a:ext>
            </a:extLst>
          </p:cNvPr>
          <p:cNvSpPr>
            <a:spLocks noGrp="1"/>
          </p:cNvSpPr>
          <p:nvPr/>
        </p:nvSpPr>
        <p:spPr>
          <a:xfrm>
            <a:off x="4754880" y="4142232"/>
            <a:ext cx="640080" cy="640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SES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FCF59B-D4DC-42BE-945A-B4CD29CCDF98}"/>
              </a:ext>
            </a:extLst>
          </p:cNvPr>
          <p:cNvSpPr>
            <a:spLocks noGrp="1"/>
          </p:cNvSpPr>
          <p:nvPr/>
        </p:nvSpPr>
        <p:spPr>
          <a:xfrm>
            <a:off x="4754880" y="48920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Session &amp; Cookies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224480-60DB-4748-9A7C-23C35A6CA365}"/>
              </a:ext>
            </a:extLst>
          </p:cNvPr>
          <p:cNvSpPr>
            <a:spLocks noGrp="1"/>
          </p:cNvSpPr>
          <p:nvPr/>
        </p:nvSpPr>
        <p:spPr>
          <a:xfrm>
            <a:off x="4754880" y="53035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15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Giỏ hàng, phiên đăng nhập, ghi nhớ đăng nhập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E0F9867-9DD3-4216-B745-288EF42AB3DC}"/>
              </a:ext>
            </a:extLst>
          </p:cNvPr>
          <p:cNvSpPr>
            <a:spLocks noGrp="1"/>
          </p:cNvSpPr>
          <p:nvPr/>
        </p:nvSpPr>
        <p:spPr>
          <a:xfrm>
            <a:off x="8138160" y="3886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EFCB9EA-B5A1-440F-BD22-6FE8DBB9E470}"/>
              </a:ext>
            </a:extLst>
          </p:cNvPr>
          <p:cNvSpPr>
            <a:spLocks noGrp="1"/>
          </p:cNvSpPr>
          <p:nvPr/>
        </p:nvSpPr>
        <p:spPr>
          <a:xfrm>
            <a:off x="8412480" y="4142232"/>
            <a:ext cx="640080" cy="64008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</a:rPr>
              <a:t>IIS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428B4F-71BC-4670-8F13-7AEA701DB524}"/>
              </a:ext>
            </a:extLst>
          </p:cNvPr>
          <p:cNvSpPr>
            <a:spLocks noGrp="1"/>
          </p:cNvSpPr>
          <p:nvPr/>
        </p:nvSpPr>
        <p:spPr>
          <a:xfrm>
            <a:off x="8412480" y="48920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IIS / IIS Express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9303DA-DD45-43FA-90B0-6B7CAFCE7049}"/>
              </a:ext>
            </a:extLst>
          </p:cNvPr>
          <p:cNvSpPr>
            <a:spLocks noGrp="1"/>
          </p:cNvSpPr>
          <p:nvPr/>
        </p:nvSpPr>
        <p:spPr>
          <a:xfrm>
            <a:off x="8412480" y="53035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15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Web server chạy và triển khai ứng dụng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92809C-787A-4A68-AC4C-DC49FBC8E864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79152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97ABEE-45B2-410A-945C-BEB13205A7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29F2D-2EF8-4B02-878E-FF75DFEF673B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Kiến trúc hệ thống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B21A3F-B45C-43A0-83BC-F5A753259C9E}"/>
              </a:ext>
            </a:extLst>
          </p:cNvPr>
          <p:cNvSpPr>
            <a:spLocks noGrp="1"/>
          </p:cNvSpPr>
          <p:nvPr/>
        </p:nvSpPr>
        <p:spPr>
          <a:xfrm>
            <a:off x="822960" y="1463040"/>
            <a:ext cx="105156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645920"/>
            <a:ext cx="9509760" cy="4383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04D109-3C0E-481D-BA58-70461CE21189}"/>
              </a:ext>
            </a:extLst>
          </p:cNvPr>
          <p:cNvSpPr>
            <a:spLocks noGrp="1"/>
          </p:cNvSpPr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0" i="1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Mô hình client - server: trình duyệt gửi yêu cầu → IIS xử lý trang ASP.NET bằng C# → truy xuất SQL Server qua ADO.NET → trả HTML về client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55CD4-B09E-402A-A26C-3821739090F8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99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3373B8-AE28-4D45-9CD6-F49FEEA0D3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9C949D-5FE6-42B6-865A-6FD7BBC92A70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Chức năng hệ thống</a:t>
            </a:r>
          </a:p>
        </p:txBody>
      </p:sp>
      <p:pic>
        <p:nvPicPr>
          <p:cNvPr id="9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325880"/>
            <a:ext cx="9235440" cy="54226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D49C2E-F5D6-4571-B12B-B5865907BAFB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6627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E75F38-B1C0-4F64-A79A-8DF46FC3D5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4D68E-F54A-4FDB-9B8E-70550EFB59C0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Thiết kế cơ sở dữ liệu</a:t>
            </a: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820" y="1238250"/>
            <a:ext cx="8215313" cy="4762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816B3E-2F14-4B05-AFA5-DDF31D9EEC3C}"/>
              </a:ext>
            </a:extLst>
          </p:cNvPr>
          <p:cNvSpPr>
            <a:spLocks noGrp="1"/>
          </p:cNvSpPr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6 bảng — khóa chính/khóa ngoại đầy đủ, CHECK giá &amp; tồn kho không âm, UNIQUE tên đăng nhập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D03AD-8F7B-425D-A3A5-EF0E463E4BA7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49249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F24087-20E5-4D3D-9DAF-42E5466247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98D33-B669-49EB-A631-DD617B89190E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Quy trình xử lý đặt hàng</a:t>
            </a:r>
          </a:p>
        </p:txBody>
      </p:sp>
      <p:pic>
        <p:nvPicPr>
          <p:cNvPr id="19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234440"/>
            <a:ext cx="4488849" cy="539496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7C698A1-8083-469D-958E-BD3C37936976}"/>
              </a:ext>
            </a:extLst>
          </p:cNvPr>
          <p:cNvSpPr>
            <a:spLocks noGrp="1"/>
          </p:cNvSpPr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48914-BD6C-4BBF-B79C-7407AF481E9E}"/>
              </a:ext>
            </a:extLst>
          </p:cNvPr>
          <p:cNvSpPr>
            <a:spLocks noGrp="1"/>
          </p:cNvSpPr>
          <p:nvPr/>
        </p:nvSpPr>
        <p:spPr>
          <a:xfrm>
            <a:off x="1508760" y="1618488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Giỏ hàng lưu bằng Session (DataTable)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7E0996-0266-4CF0-93DD-0FD4D378ED9F}"/>
              </a:ext>
            </a:extLst>
          </p:cNvPr>
          <p:cNvSpPr>
            <a:spLocks noGrp="1"/>
          </p:cNvSpPr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93210-1C9F-462F-A52D-CC52904493EC}"/>
              </a:ext>
            </a:extLst>
          </p:cNvPr>
          <p:cNvSpPr>
            <a:spLocks noGrp="1"/>
          </p:cNvSpPr>
          <p:nvPr/>
        </p:nvSpPr>
        <p:spPr>
          <a:xfrm>
            <a:off x="1508760" y="2578608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Bắt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buộc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đăng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nhập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trước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khi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đặt</a:t>
            </a:r>
            <a:endParaRPr sz="1250" b="0" i="0" dirty="0">
              <a:solidFill>
                <a:srgbClr val="1D1D1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E4C1DA-0EBA-4C7D-9CE6-D50E7BD63FED}"/>
              </a:ext>
            </a:extLst>
          </p:cNvPr>
          <p:cNvSpPr>
            <a:spLocks noGrp="1"/>
          </p:cNvSpPr>
          <p:nvPr/>
        </p:nvSpPr>
        <p:spPr>
          <a:xfrm>
            <a:off x="868680" y="3520440"/>
            <a:ext cx="457200" cy="4572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05809B-C090-4522-8569-E8256F0E5CD6}"/>
              </a:ext>
            </a:extLst>
          </p:cNvPr>
          <p:cNvSpPr>
            <a:spLocks noGrp="1"/>
          </p:cNvSpPr>
          <p:nvPr/>
        </p:nvSpPr>
        <p:spPr>
          <a:xfrm>
            <a:off x="1508760" y="3538728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Validation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kiểm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tra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thông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tin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giao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hàng</a:t>
            </a:r>
            <a:endParaRPr sz="1250" b="0" i="0" dirty="0">
              <a:solidFill>
                <a:srgbClr val="1D1D1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3CAAC6-1B32-449E-8D1E-A9B2D375CB5A}"/>
              </a:ext>
            </a:extLst>
          </p:cNvPr>
          <p:cNvSpPr>
            <a:spLocks noGrp="1"/>
          </p:cNvSpPr>
          <p:nvPr/>
        </p:nvSpPr>
        <p:spPr>
          <a:xfrm>
            <a:off x="868680" y="4480560"/>
            <a:ext cx="457200" cy="4572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FF30C0-1F2E-4811-B970-68A3EA44AA65}"/>
              </a:ext>
            </a:extLst>
          </p:cNvPr>
          <p:cNvSpPr>
            <a:spLocks noGrp="1"/>
          </p:cNvSpPr>
          <p:nvPr/>
        </p:nvSpPr>
        <p:spPr>
          <a:xfrm>
            <a:off x="1508760" y="4498848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INSERT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đơn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hàng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+ chi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tiết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(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tham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số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i="0" dirty="0" err="1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hóa</a:t>
            </a:r>
            <a:r>
              <a:rPr sz="1250" b="0" i="0" dirty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21CBD64-8DE7-4102-A58F-4C8F070D299B}"/>
              </a:ext>
            </a:extLst>
          </p:cNvPr>
          <p:cNvSpPr>
            <a:spLocks noGrp="1"/>
          </p:cNvSpPr>
          <p:nvPr/>
        </p:nvSpPr>
        <p:spPr>
          <a:xfrm>
            <a:off x="868680" y="5440680"/>
            <a:ext cx="457200" cy="4572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F57F0C-CBD7-45C7-9F06-F00F3323F24F}"/>
              </a:ext>
            </a:extLst>
          </p:cNvPr>
          <p:cNvSpPr>
            <a:spLocks noGrp="1"/>
          </p:cNvSpPr>
          <p:nvPr/>
        </p:nvSpPr>
        <p:spPr>
          <a:xfrm>
            <a:off x="1508760" y="5458968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Trừ tồn kho, báo mã đơn cho khách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F84803-6F48-40AC-B056-A219C5CC954B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3131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54011B-384E-4333-ABCF-B60FA37D59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E12A7-07FD-49AC-A697-FE4B29B5D971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— Phân hệ khách hàng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D60CF1-F51B-4113-8258-2EB3F5F4D86B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23" name="AppleStore_Web_Demo_20260719.mp4">
            <a:hlinkClick r:id="" action="ppaction://media"/>
            <a:extLst>
              <a:ext uri="{FF2B5EF4-FFF2-40B4-BE49-F238E27FC236}">
                <a16:creationId xmlns:a16="http://schemas.microsoft.com/office/drawing/2014/main" id="{ACCFA9A3-A808-FF93-A582-87E210E1BDF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68763" y="1089000"/>
            <a:ext cx="7854167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167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05F828-CD24-435D-B073-9F7889473DA0}"/>
              </a:ext>
            </a:extLst>
          </p:cNvPr>
          <p:cNvSpPr>
            <a:spLocks noGrp="1"/>
          </p:cNvSpPr>
          <p:nvPr/>
        </p:nvSpPr>
        <p:spPr>
          <a:xfrm>
            <a:off x="-168442" y="-13716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00C97-349A-45AF-B87D-B1091F554B92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— </a:t>
            </a:r>
            <a:r>
              <a:rPr sz="34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Phân</a:t>
            </a:r>
            <a:r>
              <a:rPr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hệ</a:t>
            </a:r>
            <a:r>
              <a:rPr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quản</a:t>
            </a:r>
            <a:r>
              <a:rPr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trị</a:t>
            </a:r>
            <a:endParaRPr sz="340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30FE4E7-7C49-4B43-AB35-4030F790FA38}"/>
              </a:ext>
            </a:extLst>
          </p:cNvPr>
          <p:cNvSpPr>
            <a:spLocks noGrp="1"/>
          </p:cNvSpPr>
          <p:nvPr/>
        </p:nvSpPr>
        <p:spPr>
          <a:xfrm>
            <a:off x="498107" y="1554480"/>
            <a:ext cx="3664819" cy="205740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CC6B9-A594-48B5-B069-11C4218031F6}"/>
              </a:ext>
            </a:extLst>
          </p:cNvPr>
          <p:cNvSpPr>
            <a:spLocks noGrp="1"/>
          </p:cNvSpPr>
          <p:nvPr/>
        </p:nvSpPr>
        <p:spPr>
          <a:xfrm>
            <a:off x="105156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005680-1873-46A2-B2DF-4CEC922AFD37}"/>
              </a:ext>
            </a:extLst>
          </p:cNvPr>
          <p:cNvSpPr>
            <a:spLocks noGrp="1"/>
          </p:cNvSpPr>
          <p:nvPr/>
        </p:nvSpPr>
        <p:spPr>
          <a:xfrm>
            <a:off x="1051560" y="30175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Đăng nhập quản trị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D67D22-5B0D-4E11-93EA-CD555F58A43E}"/>
              </a:ext>
            </a:extLst>
          </p:cNvPr>
          <p:cNvSpPr>
            <a:spLocks noGrp="1"/>
          </p:cNvSpPr>
          <p:nvPr/>
        </p:nvSpPr>
        <p:spPr>
          <a:xfrm>
            <a:off x="4480560" y="155448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40602-3AD6-4262-AF1D-71E3F08BBA0F}"/>
              </a:ext>
            </a:extLst>
          </p:cNvPr>
          <p:cNvSpPr>
            <a:spLocks noGrp="1"/>
          </p:cNvSpPr>
          <p:nvPr/>
        </p:nvSpPr>
        <p:spPr>
          <a:xfrm>
            <a:off x="470916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FCC50-29ED-4D5D-84CB-9451C163F568}"/>
              </a:ext>
            </a:extLst>
          </p:cNvPr>
          <p:cNvSpPr>
            <a:spLocks noGrp="1"/>
          </p:cNvSpPr>
          <p:nvPr/>
        </p:nvSpPr>
        <p:spPr>
          <a:xfrm>
            <a:off x="4709160" y="30175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Quản lý sản phẩm (CRUD)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E38CDB9-DBC1-4C68-AE09-0A2FF2552722}"/>
              </a:ext>
            </a:extLst>
          </p:cNvPr>
          <p:cNvSpPr>
            <a:spLocks noGrp="1"/>
          </p:cNvSpPr>
          <p:nvPr/>
        </p:nvSpPr>
        <p:spPr>
          <a:xfrm>
            <a:off x="8138160" y="155448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E14F6-78EA-486D-9AA2-E2D2DA6A8CC0}"/>
              </a:ext>
            </a:extLst>
          </p:cNvPr>
          <p:cNvSpPr>
            <a:spLocks noGrp="1"/>
          </p:cNvSpPr>
          <p:nvPr/>
        </p:nvSpPr>
        <p:spPr>
          <a:xfrm>
            <a:off x="836676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1311EF-1687-405E-9DA8-202F4C7C48AC}"/>
              </a:ext>
            </a:extLst>
          </p:cNvPr>
          <p:cNvSpPr>
            <a:spLocks noGrp="1"/>
          </p:cNvSpPr>
          <p:nvPr/>
        </p:nvSpPr>
        <p:spPr>
          <a:xfrm>
            <a:off x="8366760" y="30175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Quản </a:t>
            </a:r>
            <a:r>
              <a:rPr sz="14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lý</a:t>
            </a:r>
            <a:r>
              <a:rPr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danh</a:t>
            </a:r>
            <a:r>
              <a:rPr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mục</a:t>
            </a:r>
            <a:endParaRPr sz="140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A619E0E-0876-4F68-9516-BFD834A140EC}"/>
              </a:ext>
            </a:extLst>
          </p:cNvPr>
          <p:cNvSpPr>
            <a:spLocks noGrp="1"/>
          </p:cNvSpPr>
          <p:nvPr/>
        </p:nvSpPr>
        <p:spPr>
          <a:xfrm>
            <a:off x="822960" y="3886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E3AEC2-D94D-4699-8B2E-F943F8A2511F}"/>
              </a:ext>
            </a:extLst>
          </p:cNvPr>
          <p:cNvSpPr>
            <a:spLocks noGrp="1"/>
          </p:cNvSpPr>
          <p:nvPr/>
        </p:nvSpPr>
        <p:spPr>
          <a:xfrm>
            <a:off x="1051560" y="46177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38E69-E518-445D-B8FB-24A186840F63}"/>
              </a:ext>
            </a:extLst>
          </p:cNvPr>
          <p:cNvSpPr>
            <a:spLocks noGrp="1"/>
          </p:cNvSpPr>
          <p:nvPr/>
        </p:nvSpPr>
        <p:spPr>
          <a:xfrm>
            <a:off x="1051560" y="53492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Quản lý đơn hàng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C99E95F-D6BB-4830-A7E9-511069F1812F}"/>
              </a:ext>
            </a:extLst>
          </p:cNvPr>
          <p:cNvSpPr>
            <a:spLocks noGrp="1"/>
          </p:cNvSpPr>
          <p:nvPr/>
        </p:nvSpPr>
        <p:spPr>
          <a:xfrm>
            <a:off x="4480560" y="3886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D1A7DE-0843-451E-A855-CC5F83A9CD75}"/>
              </a:ext>
            </a:extLst>
          </p:cNvPr>
          <p:cNvSpPr>
            <a:spLocks noGrp="1"/>
          </p:cNvSpPr>
          <p:nvPr/>
        </p:nvSpPr>
        <p:spPr>
          <a:xfrm>
            <a:off x="4709160" y="46177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731EA3-BFA7-49AF-BBB1-FD35E22CD2DC}"/>
              </a:ext>
            </a:extLst>
          </p:cNvPr>
          <p:cNvSpPr>
            <a:spLocks noGrp="1"/>
          </p:cNvSpPr>
          <p:nvPr/>
        </p:nvSpPr>
        <p:spPr>
          <a:xfrm>
            <a:off x="4709160" y="53492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Quản lý khách hàng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0E44F3E-4D76-4C48-8AA4-C0F20762A322}"/>
              </a:ext>
            </a:extLst>
          </p:cNvPr>
          <p:cNvSpPr>
            <a:spLocks noGrp="1"/>
          </p:cNvSpPr>
          <p:nvPr/>
        </p:nvSpPr>
        <p:spPr>
          <a:xfrm>
            <a:off x="8138160" y="3886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743A66-AA39-42AE-A007-043A67CC5EE4}"/>
              </a:ext>
            </a:extLst>
          </p:cNvPr>
          <p:cNvSpPr>
            <a:spLocks noGrp="1"/>
          </p:cNvSpPr>
          <p:nvPr/>
        </p:nvSpPr>
        <p:spPr>
          <a:xfrm>
            <a:off x="8366760" y="46177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4498CC-5107-48AF-9442-54068B07D8D1}"/>
              </a:ext>
            </a:extLst>
          </p:cNvPr>
          <p:cNvSpPr>
            <a:spLocks noGrp="1"/>
          </p:cNvSpPr>
          <p:nvPr/>
        </p:nvSpPr>
        <p:spPr>
          <a:xfrm>
            <a:off x="8366760" y="53492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Thống kê — doanh thu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53A5E1-7EE5-45BE-93FF-4C732B6E3479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23975" y="1638300"/>
            <a:ext cx="2381250" cy="1339453"/>
          </a:xfrm>
          <a:prstGeom prst="round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rcRect t="19722" b="19722"/>
          <a:stretch>
            <a:fillRect/>
          </a:stretch>
        </p:blipFill>
        <p:spPr>
          <a:xfrm>
            <a:off x="4981575" y="1638300"/>
            <a:ext cx="2381250" cy="1339453"/>
          </a:xfrm>
          <a:prstGeom prst="round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39175" y="1638300"/>
            <a:ext cx="2381250" cy="1339453"/>
          </a:xfrm>
          <a:prstGeom prst="round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23975" y="3971925"/>
            <a:ext cx="2381250" cy="1339453"/>
          </a:xfrm>
          <a:prstGeom prst="round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7"/>
          <a:srcRect t="5078" b="5078"/>
          <a:stretch>
            <a:fillRect/>
          </a:stretch>
        </p:blipFill>
        <p:spPr>
          <a:xfrm>
            <a:off x="4981575" y="3971925"/>
            <a:ext cx="2381250" cy="1339453"/>
          </a:xfrm>
          <a:prstGeom prst="round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8"/>
          <a:srcRect t="20588" b="20588"/>
          <a:stretch>
            <a:fillRect/>
          </a:stretch>
        </p:blipFill>
        <p:spPr>
          <a:xfrm>
            <a:off x="8639175" y="3971925"/>
            <a:ext cx="2381250" cy="133945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89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5CFDD8-519B-42C9-9DB0-12E770F17F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83CD7C-1F68-41EF-9B15-30C0F58974D4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Kết quả đạt được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8E8B633-95E8-4FF0-86BB-739ED3A23485}"/>
              </a:ext>
            </a:extLst>
          </p:cNvPr>
          <p:cNvSpPr>
            <a:spLocks noGrp="1"/>
          </p:cNvSpPr>
          <p:nvPr/>
        </p:nvSpPr>
        <p:spPr>
          <a:xfrm>
            <a:off x="822960" y="155448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BC444-AD38-4238-8F88-408FF61B65A6}"/>
              </a:ext>
            </a:extLst>
          </p:cNvPr>
          <p:cNvSpPr>
            <a:spLocks noGrp="1"/>
          </p:cNvSpPr>
          <p:nvPr/>
        </p:nvSpPr>
        <p:spPr>
          <a:xfrm>
            <a:off x="1005840" y="18288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59AF5-E141-42F9-BBAE-8E7E2884058A}"/>
              </a:ext>
            </a:extLst>
          </p:cNvPr>
          <p:cNvSpPr>
            <a:spLocks noGrp="1"/>
          </p:cNvSpPr>
          <p:nvPr/>
        </p:nvSpPr>
        <p:spPr>
          <a:xfrm>
            <a:off x="1005840" y="2743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trang chức năng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E6C6E-53D8-43D4-A29E-98AAADA9DC90}"/>
              </a:ext>
            </a:extLst>
          </p:cNvPr>
          <p:cNvSpPr>
            <a:spLocks noGrp="1"/>
          </p:cNvSpPr>
          <p:nvPr/>
        </p:nvSpPr>
        <p:spPr>
          <a:xfrm>
            <a:off x="1005840" y="31546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8 trang khách hàng + 6 trang quản trị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9AB2339-6FB6-46C7-84EF-FD31250E9FB5}"/>
              </a:ext>
            </a:extLst>
          </p:cNvPr>
          <p:cNvSpPr>
            <a:spLocks noGrp="1"/>
          </p:cNvSpPr>
          <p:nvPr/>
        </p:nvSpPr>
        <p:spPr>
          <a:xfrm>
            <a:off x="3611879" y="155448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26ABD-DF0C-4B80-9281-7004A9009B33}"/>
              </a:ext>
            </a:extLst>
          </p:cNvPr>
          <p:cNvSpPr>
            <a:spLocks noGrp="1"/>
          </p:cNvSpPr>
          <p:nvPr/>
        </p:nvSpPr>
        <p:spPr>
          <a:xfrm>
            <a:off x="3794759" y="18288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3DC4E-DAD3-415F-AA37-C763A4E4AB9E}"/>
              </a:ext>
            </a:extLst>
          </p:cNvPr>
          <p:cNvSpPr>
            <a:spLocks noGrp="1"/>
          </p:cNvSpPr>
          <p:nvPr/>
        </p:nvSpPr>
        <p:spPr>
          <a:xfrm>
            <a:off x="3794759" y="2743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bảng dữ liệu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07BC54-E788-4B77-B6E7-2F6EE2126AF1}"/>
              </a:ext>
            </a:extLst>
          </p:cNvPr>
          <p:cNvSpPr>
            <a:spLocks noGrp="1"/>
          </p:cNvSpPr>
          <p:nvPr/>
        </p:nvSpPr>
        <p:spPr>
          <a:xfrm>
            <a:off x="3794759" y="31546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Ràng buộc toàn vẹn đầy đủ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3888FCC-13B5-4F21-A955-B32ECF93ED61}"/>
              </a:ext>
            </a:extLst>
          </p:cNvPr>
          <p:cNvSpPr>
            <a:spLocks noGrp="1"/>
          </p:cNvSpPr>
          <p:nvPr/>
        </p:nvSpPr>
        <p:spPr>
          <a:xfrm>
            <a:off x="6400800" y="155448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404A1A-FA8C-4C0D-93E4-B5411455939C}"/>
              </a:ext>
            </a:extLst>
          </p:cNvPr>
          <p:cNvSpPr>
            <a:spLocks noGrp="1"/>
          </p:cNvSpPr>
          <p:nvPr/>
        </p:nvSpPr>
        <p:spPr>
          <a:xfrm>
            <a:off x="6583680" y="18288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49947-B8EC-4389-841B-7325C161EAE6}"/>
              </a:ext>
            </a:extLst>
          </p:cNvPr>
          <p:cNvSpPr>
            <a:spLocks noGrp="1"/>
          </p:cNvSpPr>
          <p:nvPr/>
        </p:nvSpPr>
        <p:spPr>
          <a:xfrm>
            <a:off x="6583680" y="2743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sản phẩm mẫu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CDB328-74A7-4DD5-B3F6-3CD444F894A3}"/>
              </a:ext>
            </a:extLst>
          </p:cNvPr>
          <p:cNvSpPr>
            <a:spLocks noGrp="1"/>
          </p:cNvSpPr>
          <p:nvPr/>
        </p:nvSpPr>
        <p:spPr>
          <a:xfrm>
            <a:off x="6583680" y="31546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6 danh mục sản phẩm Apple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402841A-0210-48A5-BE96-120E18399D0A}"/>
              </a:ext>
            </a:extLst>
          </p:cNvPr>
          <p:cNvSpPr>
            <a:spLocks noGrp="1"/>
          </p:cNvSpPr>
          <p:nvPr/>
        </p:nvSpPr>
        <p:spPr>
          <a:xfrm>
            <a:off x="9189719" y="155448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7EC9BA-C589-4AA2-AB85-3F9C0BF8C33C}"/>
              </a:ext>
            </a:extLst>
          </p:cNvPr>
          <p:cNvSpPr>
            <a:spLocks noGrp="1"/>
          </p:cNvSpPr>
          <p:nvPr/>
        </p:nvSpPr>
        <p:spPr>
          <a:xfrm>
            <a:off x="9372599" y="18288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98979B-7138-4DC3-9347-3CA9E3AF2349}"/>
              </a:ext>
            </a:extLst>
          </p:cNvPr>
          <p:cNvSpPr>
            <a:spLocks noGrp="1"/>
          </p:cNvSpPr>
          <p:nvPr/>
        </p:nvSpPr>
        <p:spPr>
          <a:xfrm>
            <a:off x="9372599" y="2743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truy vấn an toàn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4127E5-3C12-4F68-8052-7D0EA53C5B1D}"/>
              </a:ext>
            </a:extLst>
          </p:cNvPr>
          <p:cNvSpPr>
            <a:spLocks noGrp="1"/>
          </p:cNvSpPr>
          <p:nvPr/>
        </p:nvSpPr>
        <p:spPr>
          <a:xfrm>
            <a:off x="9372599" y="31546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Tham số hóa, chống SQL Injection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1818F9C-5B76-4B81-9CCE-9F3BE19183AC}"/>
              </a:ext>
            </a:extLst>
          </p:cNvPr>
          <p:cNvSpPr>
            <a:spLocks noGrp="1"/>
          </p:cNvSpPr>
          <p:nvPr/>
        </p:nvSpPr>
        <p:spPr>
          <a:xfrm>
            <a:off x="822960" y="4206240"/>
            <a:ext cx="10515600" cy="201168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C0EC12-9B96-4D18-BF81-2B8FA3BC6A5B}"/>
              </a:ext>
            </a:extLst>
          </p:cNvPr>
          <p:cNvSpPr>
            <a:spLocks noGrp="1"/>
          </p:cNvSpPr>
          <p:nvPr/>
        </p:nvSpPr>
        <p:spPr>
          <a:xfrm>
            <a:off x="1188720" y="4480560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Đáp ứng đầy đủ yêu cầu đồ án: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3EBF13-6754-4399-B8EF-71E4B5B8176B}"/>
              </a:ext>
            </a:extLst>
          </p:cNvPr>
          <p:cNvSpPr>
            <a:spLocks noGrp="1"/>
          </p:cNvSpPr>
          <p:nvPr/>
        </p:nvSpPr>
        <p:spPr>
          <a:xfrm>
            <a:off x="1188720" y="4937760"/>
            <a:ext cx="9966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buNone/>
            </a:pPr>
            <a:r>
              <a:rPr sz="14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✓ Giao diện hài hòa, thực đơn phù hợp    ✓ Lưu trữ hoàn chỉnh, CRUD ổn định    ✓ Đảm bảo ràng buộc toàn vẹn</a:t>
            </a:r>
          </a:p>
          <a:p>
            <a:pPr algn="l">
              <a:lnSpc>
                <a:spcPct val="135000"/>
              </a:lnSpc>
              <a:buNone/>
            </a:pPr>
            <a:r>
              <a:rPr sz="14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✓ Tìm kiếm tương đối tiện lợi    ✓ Báo cáo thống kê doanh thu, sản phẩm bán chạy, tồn kho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204866-2F0C-42EF-A4FF-2CBE66FC784C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64149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77C96F-1F43-42CD-AFFE-CA2F9092B845}"/>
              </a:ext>
            </a:extLst>
          </p:cNvPr>
          <p:cNvSpPr>
            <a:spLocks noGrp="1"/>
          </p:cNvSpPr>
          <p:nvPr/>
        </p:nvSpPr>
        <p:spPr>
          <a:xfrm>
            <a:off x="0" y="324853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7501F-5703-464C-84DE-F96B54A40404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Hạn chế và hướng phát triển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3FD056-46DD-4D6D-AAEB-40E5DBF235EC}"/>
              </a:ext>
            </a:extLst>
          </p:cNvPr>
          <p:cNvSpPr>
            <a:spLocks noGrp="1"/>
          </p:cNvSpPr>
          <p:nvPr/>
        </p:nvSpPr>
        <p:spPr>
          <a:xfrm>
            <a:off x="822960" y="1463040"/>
            <a:ext cx="5166360" cy="466344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16AE4-58CC-4126-9FCE-B0D3D534E101}"/>
              </a:ext>
            </a:extLst>
          </p:cNvPr>
          <p:cNvSpPr>
            <a:spLocks noGrp="1"/>
          </p:cNvSpPr>
          <p:nvPr/>
        </p:nvSpPr>
        <p:spPr>
          <a:xfrm>
            <a:off x="1188720" y="1737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Hạn chế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947A75-880C-4E94-BA2A-7297F1F38944}"/>
              </a:ext>
            </a:extLst>
          </p:cNvPr>
          <p:cNvSpPr>
            <a:spLocks noGrp="1"/>
          </p:cNvSpPr>
          <p:nvPr/>
        </p:nvSpPr>
        <p:spPr>
          <a:xfrm>
            <a:off x="1188720" y="2377440"/>
            <a:ext cx="44805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5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• Mật khẩu chưa mã hóa khi lưu trữ</a:t>
            </a:r>
          </a:p>
          <a:p>
            <a:pPr algn="l">
              <a:lnSpc>
                <a:spcPct val="115000"/>
              </a:lnSpc>
              <a:buNone/>
            </a:pPr>
            <a:endParaRPr sz="1500" b="0" i="0">
              <a:solidFill>
                <a:srgbClr val="1D1D1F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15000"/>
              </a:lnSpc>
              <a:buNone/>
            </a:pPr>
            <a:r>
              <a:rPr sz="15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• Chưa có thanh toán trực tuyến</a:t>
            </a:r>
          </a:p>
          <a:p>
            <a:pPr algn="l">
              <a:lnSpc>
                <a:spcPct val="115000"/>
              </a:lnSpc>
              <a:buNone/>
            </a:pPr>
            <a:endParaRPr sz="1500" b="0" i="0">
              <a:solidFill>
                <a:srgbClr val="1D1D1F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15000"/>
              </a:lnSpc>
              <a:buNone/>
            </a:pPr>
            <a:r>
              <a:rPr sz="1500" b="0" i="0">
                <a:solidFill>
                  <a:srgbClr val="1D1D1F"/>
                </a:solidFill>
                <a:latin typeface="Calibri"/>
                <a:ea typeface="Calibri"/>
                <a:cs typeface="Calibri"/>
              </a:rPr>
              <a:t>• Chưa có lịch sử đơn hàng, đánh giá sản phẩm phía khách hàng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5DB45E4-39E9-467A-A394-241423220102}"/>
              </a:ext>
            </a:extLst>
          </p:cNvPr>
          <p:cNvSpPr>
            <a:spLocks noGrp="1"/>
          </p:cNvSpPr>
          <p:nvPr/>
        </p:nvSpPr>
        <p:spPr>
          <a:xfrm>
            <a:off x="6263640" y="1463040"/>
            <a:ext cx="5166360" cy="4663440"/>
          </a:xfrm>
          <a:prstGeom prst="roundRect">
            <a:avLst>
              <a:gd name="adj" fmla="val 8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EB6C7-BEC2-4326-B770-C50D0E469910}"/>
              </a:ext>
            </a:extLst>
          </p:cNvPr>
          <p:cNvSpPr>
            <a:spLocks noGrp="1"/>
          </p:cNvSpPr>
          <p:nvPr/>
        </p:nvSpPr>
        <p:spPr>
          <a:xfrm>
            <a:off x="6629400" y="1737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Hướng</a:t>
            </a:r>
            <a:r>
              <a:rPr sz="20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phát</a:t>
            </a:r>
            <a:r>
              <a:rPr sz="20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triển</a:t>
            </a:r>
            <a:endParaRPr sz="200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241DD-DFC0-4A19-B277-614E3B58F405}"/>
              </a:ext>
            </a:extLst>
          </p:cNvPr>
          <p:cNvSpPr>
            <a:spLocks noGrp="1"/>
          </p:cNvSpPr>
          <p:nvPr/>
        </p:nvSpPr>
        <p:spPr>
          <a:xfrm>
            <a:off x="6629400" y="2377440"/>
            <a:ext cx="448056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5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• Mã hóa mật khẩu (SHA256/bcrypt)</a:t>
            </a:r>
          </a:p>
          <a:p>
            <a:pPr algn="l">
              <a:lnSpc>
                <a:spcPct val="115000"/>
              </a:lnSpc>
              <a:buNone/>
            </a:pPr>
            <a:endParaRPr sz="1500" b="0" i="0">
              <a:solidFill>
                <a:srgbClr val="F5F5F7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15000"/>
              </a:lnSpc>
              <a:buNone/>
            </a:pPr>
            <a:r>
              <a:rPr sz="15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• Tích hợp VNPay/MoMo, email xác nhận đơn</a:t>
            </a:r>
          </a:p>
          <a:p>
            <a:pPr algn="l">
              <a:lnSpc>
                <a:spcPct val="115000"/>
              </a:lnSpc>
              <a:buNone/>
            </a:pPr>
            <a:endParaRPr sz="1500" b="0" i="0">
              <a:solidFill>
                <a:srgbClr val="F5F5F7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15000"/>
              </a:lnSpc>
              <a:buNone/>
            </a:pPr>
            <a:r>
              <a:rPr sz="15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• Biểu đồ thống kê, xuất Excel/PDF</a:t>
            </a:r>
          </a:p>
          <a:p>
            <a:pPr algn="l">
              <a:lnSpc>
                <a:spcPct val="115000"/>
              </a:lnSpc>
              <a:buNone/>
            </a:pPr>
            <a:endParaRPr sz="1500" b="0" i="0">
              <a:solidFill>
                <a:srgbClr val="F5F5F7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15000"/>
              </a:lnSpc>
              <a:buNone/>
            </a:pPr>
            <a:r>
              <a:rPr sz="15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• Nâng cấp lên ASP.NET Core MVC, tối ưu mobile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0460EB-03CD-4A98-A256-B2044BEF73EF}"/>
              </a:ext>
            </a:extLst>
          </p:cNvPr>
          <p:cNvSpPr>
            <a:spLocks noGrp="1"/>
          </p:cNvSpPr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200" b="0" i="0">
                <a:solidFill>
                  <a:srgbClr val="6E6E73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58005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C44940-1700-4F66-A8A6-A9C652FF1B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30BA09-F357-4792-A30B-197B07D2A073}"/>
              </a:ext>
            </a:extLst>
          </p:cNvPr>
          <p:cNvSpPr>
            <a:spLocks noGrp="1"/>
          </p:cNvSpPr>
          <p:nvPr/>
        </p:nvSpPr>
        <p:spPr>
          <a:xfrm>
            <a:off x="5592927" y="1371600"/>
            <a:ext cx="1005840" cy="100584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622F9-0349-4F5D-BAFE-8BFC10FB17EF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 XIN CHÂN THÀNH CẢM ƠN!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4921A-3554-4327-9196-11CE4B159DE1}"/>
              </a:ext>
            </a:extLst>
          </p:cNvPr>
          <p:cNvSpPr>
            <a:spLocks noGrp="1"/>
          </p:cNvSpPr>
          <p:nvPr/>
        </p:nvSpPr>
        <p:spPr>
          <a:xfrm>
            <a:off x="640080" y="370332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5F5F7"/>
                </a:solidFill>
                <a:latin typeface="Calibri"/>
                <a:ea typeface="Calibri"/>
                <a:cs typeface="Calibri"/>
              </a:rPr>
              <a:t>Kính mong nhận được góp ý của quý Thầy Cô và Hội đồng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FDB57-ABE9-4C53-84C6-1710462C749E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0071E3"/>
                </a:solidFill>
                <a:latin typeface="Calibri"/>
                <a:ea typeface="Calibri"/>
                <a:cs typeface="Calibri"/>
              </a:rPr>
              <a:t>Sinh viên: Hồ Ngọc Trai — Lớp DX23TT9</a:t>
            </a:r>
          </a:p>
        </p:txBody>
      </p:sp>
    </p:spTree>
    <p:extLst>
      <p:ext uri="{BB962C8B-B14F-4D97-AF65-F5344CB8AC3E}">
        <p14:creationId xmlns:p14="http://schemas.microsoft.com/office/powerpoint/2010/main" val="46120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860</Words>
  <Application>Microsoft Macintosh PowerPoint</Application>
  <DocSecurity>0</DocSecurity>
  <PresentationFormat>Widescreen</PresentationFormat>
  <Paragraphs>140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ngoctrai hồ</cp:lastModifiedBy>
  <cp:revision>4</cp:revision>
  <dcterms:created xsi:type="dcterms:W3CDTF">2026-07-19T01:24:09Z</dcterms:created>
  <dcterms:modified xsi:type="dcterms:W3CDTF">2026-07-19T15:41:48Z</dcterms:modified>
</cp:coreProperties>
</file>